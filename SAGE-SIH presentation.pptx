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Arimo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12.jpeg"/><Relationship Id="rId5" Type="http://schemas.openxmlformats.org/officeDocument/2006/relationships/image" Target="../media/image3.png"/><Relationship Id="rId10" Type="http://schemas.openxmlformats.org/officeDocument/2006/relationships/image" Target="../media/image11.jpeg"/><Relationship Id="rId4" Type="http://schemas.openxmlformats.org/officeDocument/2006/relationships/image" Target="../media/image2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4023" y="679161"/>
            <a:ext cx="16419471" cy="2074650"/>
            <a:chOff x="0" y="0"/>
            <a:chExt cx="21892628" cy="2766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92640" cy="2766187"/>
            </a:xfrm>
            <a:custGeom>
              <a:avLst/>
              <a:gdLst/>
              <a:ahLst/>
              <a:cxnLst/>
              <a:rect l="l" t="t" r="r" b="b"/>
              <a:pathLst>
                <a:path w="21892640" h="2766187">
                  <a:moveTo>
                    <a:pt x="0" y="0"/>
                  </a:moveTo>
                  <a:lnTo>
                    <a:pt x="21892640" y="0"/>
                  </a:lnTo>
                  <a:lnTo>
                    <a:pt x="21892640" y="2766187"/>
                  </a:lnTo>
                  <a:lnTo>
                    <a:pt x="0" y="27661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104" b="-10410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74023" y="679161"/>
            <a:ext cx="16419471" cy="2074650"/>
            <a:chOff x="0" y="0"/>
            <a:chExt cx="21892628" cy="276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92628" cy="2766200"/>
            </a:xfrm>
            <a:custGeom>
              <a:avLst/>
              <a:gdLst/>
              <a:ahLst/>
              <a:cxnLst/>
              <a:rect l="l" t="t" r="r" b="b"/>
              <a:pathLst>
                <a:path w="21892628" h="2766200">
                  <a:moveTo>
                    <a:pt x="0" y="0"/>
                  </a:moveTo>
                  <a:lnTo>
                    <a:pt x="21892628" y="0"/>
                  </a:lnTo>
                  <a:lnTo>
                    <a:pt x="21892628" y="2766200"/>
                  </a:lnTo>
                  <a:lnTo>
                    <a:pt x="0" y="2766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211" b="-10421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892628" cy="2766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VITISH 2026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(SIH Internal Hackathon)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8" name="Freeform 8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512" b="-651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82" b="-28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9" b="-5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04" b="-30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1926470" y="2895422"/>
            <a:ext cx="5332830" cy="5701842"/>
          </a:xfrm>
          <a:custGeom>
            <a:avLst/>
            <a:gdLst/>
            <a:ahLst/>
            <a:cxnLst/>
            <a:rect l="l" t="t" r="r" b="b"/>
            <a:pathLst>
              <a:path w="5332830" h="5701842">
                <a:moveTo>
                  <a:pt x="0" y="0"/>
                </a:moveTo>
                <a:lnTo>
                  <a:pt x="5332830" y="0"/>
                </a:lnTo>
                <a:lnTo>
                  <a:pt x="5332830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97894" y="3141345"/>
            <a:ext cx="9882993" cy="545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717869" lvl="2" indent="-239290" algn="just">
              <a:lnSpc>
                <a:spcPts val="81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ID: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PS-181</a:t>
            </a:r>
          </a:p>
          <a:p>
            <a:pPr marL="717869" lvl="2" indent="-239290" algn="just">
              <a:lnSpc>
                <a:spcPts val="81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On-Device AI Companion for Personal Health Safety</a:t>
            </a:r>
          </a:p>
          <a:p>
            <a:pPr marL="717869" lvl="2" indent="-239290" algn="just">
              <a:lnSpc>
                <a:spcPts val="81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 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MedTech</a:t>
            </a:r>
          </a:p>
          <a:p>
            <a:pPr marL="717869" lvl="2" indent="-239290" algn="just">
              <a:lnSpc>
                <a:spcPts val="8160"/>
              </a:lnSpc>
              <a:buFont typeface="Arial"/>
              <a:buChar char="⚬"/>
            </a:pPr>
            <a:r>
              <a:rPr lang="en-US" sz="3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4695" y="-520370"/>
            <a:ext cx="16459200" cy="2120875"/>
            <a:chOff x="0" y="0"/>
            <a:chExt cx="21945600" cy="2827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827782"/>
            </a:xfrm>
            <a:custGeom>
              <a:avLst/>
              <a:gdLst/>
              <a:ahLst/>
              <a:cxnLst/>
              <a:rect l="l" t="t" r="r" b="b"/>
              <a:pathLst>
                <a:path w="21945600" h="2827782">
                  <a:moveTo>
                    <a:pt x="0" y="0"/>
                  </a:moveTo>
                  <a:lnTo>
                    <a:pt x="21945600" y="0"/>
                  </a:lnTo>
                  <a:lnTo>
                    <a:pt x="21945600" y="2827782"/>
                  </a:lnTo>
                  <a:lnTo>
                    <a:pt x="0" y="2827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111" b="-10111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10" name="Freeform 10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7133999" y="2142001"/>
            <a:ext cx="1000001" cy="6816004"/>
            <a:chOff x="0" y="0"/>
            <a:chExt cx="1333335" cy="9088006"/>
          </a:xfrm>
        </p:grpSpPr>
        <p:sp>
          <p:nvSpPr>
            <p:cNvPr id="18" name="Freeform 18" descr="Flowchart icons: wearable sensor leading to TinyML chip leading to instant alert leading to checkmark outcome"/>
            <p:cNvSpPr/>
            <p:nvPr/>
          </p:nvSpPr>
          <p:spPr>
            <a:xfrm>
              <a:off x="0" y="0"/>
              <a:ext cx="1333373" cy="9087993"/>
            </a:xfrm>
            <a:custGeom>
              <a:avLst/>
              <a:gdLst/>
              <a:ahLst/>
              <a:cxnLst/>
              <a:rect l="l" t="t" r="r" b="b"/>
              <a:pathLst>
                <a:path w="1333373" h="9087993">
                  <a:moveTo>
                    <a:pt x="0" y="0"/>
                  </a:moveTo>
                  <a:lnTo>
                    <a:pt x="1333373" y="0"/>
                  </a:lnTo>
                  <a:lnTo>
                    <a:pt x="1333373" y="9087993"/>
                  </a:lnTo>
                  <a:lnTo>
                    <a:pt x="0" y="90879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6" r="2" b="-1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2282784" y="1896352"/>
            <a:ext cx="13722431" cy="7822530"/>
          </a:xfrm>
          <a:custGeom>
            <a:avLst/>
            <a:gdLst/>
            <a:ahLst/>
            <a:cxnLst/>
            <a:rect l="l" t="t" r="r" b="b"/>
            <a:pathLst>
              <a:path w="13722431" h="7822530">
                <a:moveTo>
                  <a:pt x="0" y="0"/>
                </a:moveTo>
                <a:lnTo>
                  <a:pt x="13722432" y="0"/>
                </a:lnTo>
                <a:lnTo>
                  <a:pt x="13722432" y="7822529"/>
                </a:lnTo>
                <a:lnTo>
                  <a:pt x="0" y="7822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866" b="-3081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83257" y="1476550"/>
            <a:ext cx="17604743" cy="129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sz="293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SAGE: An Adaptive Edge AI Biomedical System for Real-Time  Physiological Risk Monitoring </a:t>
            </a:r>
          </a:p>
          <a:p>
            <a:pPr algn="l">
              <a:lnSpc>
                <a:spcPts val="3611"/>
              </a:lnSpc>
            </a:pPr>
            <a:endParaRPr lang="en-US" sz="2935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041"/>
              </a:lnSpc>
            </a:pPr>
            <a:endParaRPr lang="en-US" sz="2935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2745193" y="7002242"/>
            <a:ext cx="2975487" cy="1227794"/>
            <a:chOff x="0" y="0"/>
            <a:chExt cx="783667" cy="3233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3667" cy="323370"/>
            </a:xfrm>
            <a:custGeom>
              <a:avLst/>
              <a:gdLst/>
              <a:ahLst/>
              <a:cxnLst/>
              <a:rect l="l" t="t" r="r" b="b"/>
              <a:pathLst>
                <a:path w="783667" h="323370">
                  <a:moveTo>
                    <a:pt x="0" y="0"/>
                  </a:moveTo>
                  <a:lnTo>
                    <a:pt x="783667" y="0"/>
                  </a:lnTo>
                  <a:lnTo>
                    <a:pt x="783667" y="323370"/>
                  </a:lnTo>
                  <a:lnTo>
                    <a:pt x="0" y="3233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783667" cy="342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807" y="102870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48807" y="1028700"/>
            <a:ext cx="15313271" cy="1615072"/>
            <a:chOff x="0" y="0"/>
            <a:chExt cx="21945600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8" name="Freeform 8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0" y="2400300"/>
            <a:ext cx="12924911" cy="6576690"/>
          </a:xfrm>
          <a:custGeom>
            <a:avLst/>
            <a:gdLst/>
            <a:ahLst/>
            <a:cxnLst/>
            <a:rect l="l" t="t" r="r" b="b"/>
            <a:pathLst>
              <a:path w="12924911" h="6576690">
                <a:moveTo>
                  <a:pt x="0" y="0"/>
                </a:moveTo>
                <a:lnTo>
                  <a:pt x="12924911" y="0"/>
                </a:lnTo>
                <a:lnTo>
                  <a:pt x="12924911" y="6576690"/>
                </a:lnTo>
                <a:lnTo>
                  <a:pt x="0" y="65766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101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995412" y="7068376"/>
            <a:ext cx="6155870" cy="2350423"/>
          </a:xfrm>
          <a:custGeom>
            <a:avLst/>
            <a:gdLst/>
            <a:ahLst/>
            <a:cxnLst/>
            <a:rect l="l" t="t" r="r" b="b"/>
            <a:pathLst>
              <a:path w="6155870" h="2350423">
                <a:moveTo>
                  <a:pt x="0" y="0"/>
                </a:moveTo>
                <a:lnTo>
                  <a:pt x="6155869" y="0"/>
                </a:lnTo>
                <a:lnTo>
                  <a:pt x="6155869" y="2350423"/>
                </a:lnTo>
                <a:lnTo>
                  <a:pt x="0" y="2350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728165" y="2400300"/>
            <a:ext cx="5559835" cy="4082828"/>
          </a:xfrm>
          <a:custGeom>
            <a:avLst/>
            <a:gdLst/>
            <a:ahLst/>
            <a:cxnLst/>
            <a:rect l="l" t="t" r="r" b="b"/>
            <a:pathLst>
              <a:path w="5559835" h="4082828">
                <a:moveTo>
                  <a:pt x="0" y="0"/>
                </a:moveTo>
                <a:lnTo>
                  <a:pt x="5559835" y="0"/>
                </a:lnTo>
                <a:lnTo>
                  <a:pt x="5559835" y="4082828"/>
                </a:lnTo>
                <a:lnTo>
                  <a:pt x="0" y="40828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57871" y="3542690"/>
            <a:ext cx="11788207" cy="4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2" indent="-201505" algn="l">
              <a:lnSpc>
                <a:spcPts val="3436"/>
              </a:lnSpc>
              <a:buFont typeface="Arial"/>
              <a:buChar char="⚬"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02870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007269"/>
            <a:ext cx="16459200" cy="1735931"/>
            <a:chOff x="0" y="0"/>
            <a:chExt cx="21945600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SOLUTION FEASIBILITY &amp;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8" name="Freeform 8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899997" y="2400005"/>
            <a:ext cx="2300002" cy="6468999"/>
            <a:chOff x="0" y="0"/>
            <a:chExt cx="3066669" cy="8625332"/>
          </a:xfrm>
        </p:grpSpPr>
        <p:sp>
          <p:nvSpPr>
            <p:cNvPr id="21" name="Freeform 21" descr="Flowchart icons: feasibility check leading to risk warning leading to mitigation shield"/>
            <p:cNvSpPr/>
            <p:nvPr/>
          </p:nvSpPr>
          <p:spPr>
            <a:xfrm>
              <a:off x="0" y="0"/>
              <a:ext cx="3066669" cy="8625332"/>
            </a:xfrm>
            <a:custGeom>
              <a:avLst/>
              <a:gdLst/>
              <a:ahLst/>
              <a:cxnLst/>
              <a:rect l="l" t="t" r="r" b="b"/>
              <a:pathLst>
                <a:path w="3066669" h="8625332">
                  <a:moveTo>
                    <a:pt x="0" y="0"/>
                  </a:moveTo>
                  <a:lnTo>
                    <a:pt x="3066669" y="0"/>
                  </a:lnTo>
                  <a:lnTo>
                    <a:pt x="3066669" y="8625332"/>
                  </a:lnTo>
                  <a:lnTo>
                    <a:pt x="0" y="8625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" r="-1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3156781" y="2400005"/>
            <a:ext cx="11974437" cy="7372350"/>
          </a:xfrm>
          <a:custGeom>
            <a:avLst/>
            <a:gdLst/>
            <a:ahLst/>
            <a:cxnLst/>
            <a:rect l="l" t="t" r="r" b="b"/>
            <a:pathLst>
              <a:path w="11974437" h="7372350">
                <a:moveTo>
                  <a:pt x="0" y="0"/>
                </a:moveTo>
                <a:lnTo>
                  <a:pt x="11974438" y="0"/>
                </a:lnTo>
                <a:lnTo>
                  <a:pt x="11974438" y="7372350"/>
                </a:lnTo>
                <a:lnTo>
                  <a:pt x="0" y="73723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495" b="-3787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678162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79858" y="1028700"/>
            <a:ext cx="16628129" cy="1663783"/>
            <a:chOff x="0" y="0"/>
            <a:chExt cx="23132252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132252" cy="2314575"/>
            </a:xfrm>
            <a:custGeom>
              <a:avLst/>
              <a:gdLst/>
              <a:ahLst/>
              <a:cxnLst/>
              <a:rect l="l" t="t" r="r" b="b"/>
              <a:pathLst>
                <a:path w="23132252" h="2314575">
                  <a:moveTo>
                    <a:pt x="0" y="0"/>
                  </a:moveTo>
                  <a:lnTo>
                    <a:pt x="23132252" y="0"/>
                  </a:lnTo>
                  <a:lnTo>
                    <a:pt x="23132252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r="5129" b="-13474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3132252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REAL WORLD IMPACTS, BENEFITS &amp; RELEVANCE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8" name="Freeform 8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3270129" y="2054970"/>
            <a:ext cx="11747741" cy="7684343"/>
          </a:xfrm>
          <a:custGeom>
            <a:avLst/>
            <a:gdLst/>
            <a:ahLst/>
            <a:cxnLst/>
            <a:rect l="l" t="t" r="r" b="b"/>
            <a:pathLst>
              <a:path w="11747741" h="7684343">
                <a:moveTo>
                  <a:pt x="0" y="0"/>
                </a:moveTo>
                <a:lnTo>
                  <a:pt x="11747742" y="0"/>
                </a:lnTo>
                <a:lnTo>
                  <a:pt x="11747742" y="7684342"/>
                </a:lnTo>
                <a:lnTo>
                  <a:pt x="0" y="76843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959" b="-95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40991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78537" y="-99990"/>
            <a:ext cx="14650008" cy="9818872"/>
            <a:chOff x="0" y="0"/>
            <a:chExt cx="19533345" cy="130918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33357" cy="13091829"/>
            </a:xfrm>
            <a:custGeom>
              <a:avLst/>
              <a:gdLst/>
              <a:ahLst/>
              <a:cxnLst/>
              <a:rect l="l" t="t" r="r" b="b"/>
              <a:pathLst>
                <a:path w="19533357" h="13091829">
                  <a:moveTo>
                    <a:pt x="0" y="0"/>
                  </a:moveTo>
                  <a:lnTo>
                    <a:pt x="19533357" y="0"/>
                  </a:lnTo>
                  <a:lnTo>
                    <a:pt x="19533357" y="13091829"/>
                  </a:lnTo>
                  <a:lnTo>
                    <a:pt x="0" y="13091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7" r="-26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67261" y="-99990"/>
            <a:ext cx="16920639" cy="1840962"/>
            <a:chOff x="0" y="0"/>
            <a:chExt cx="4456464" cy="4848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56464" cy="484862"/>
            </a:xfrm>
            <a:custGeom>
              <a:avLst/>
              <a:gdLst/>
              <a:ahLst/>
              <a:cxnLst/>
              <a:rect l="l" t="t" r="r" b="b"/>
              <a:pathLst>
                <a:path w="4456464" h="484862">
                  <a:moveTo>
                    <a:pt x="0" y="0"/>
                  </a:moveTo>
                  <a:lnTo>
                    <a:pt x="4456464" y="0"/>
                  </a:lnTo>
                  <a:lnTo>
                    <a:pt x="4456464" y="484862"/>
                  </a:lnTo>
                  <a:lnTo>
                    <a:pt x="0" y="4848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456464" cy="503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10" name="Freeform 10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48788" y="308419"/>
            <a:ext cx="16459200" cy="1735931"/>
            <a:chOff x="0" y="0"/>
            <a:chExt cx="21945600" cy="23145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4747" b="-13474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CAPABILITY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5696" y="184567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45696" y="1824247"/>
            <a:ext cx="16459200" cy="1735931"/>
            <a:chOff x="0" y="0"/>
            <a:chExt cx="21945600" cy="23145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1828" y="3262658"/>
            <a:ext cx="17707511" cy="542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723" lvl="1" indent="-275862" algn="l">
              <a:lnSpc>
                <a:spcPts val="3066"/>
              </a:lnSpc>
              <a:buFont typeface="Arial"/>
              <a:buChar char="•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Buller, M. J., et al. (2021), On the real-time prevention and monitoring of exertional heat illness in military personnel, Journal of Science and Medicine in Sport, 24(10), 975–981.</a:t>
            </a:r>
          </a:p>
          <a:p>
            <a:pPr algn="l">
              <a:lnSpc>
                <a:spcPts val="3066"/>
              </a:lnSpc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Demonstrates the potential of wearable sensors and real-time physiological monitoring to reduce heat-illness risk in military personnel.</a:t>
            </a:r>
          </a:p>
          <a:p>
            <a:pPr algn="l">
              <a:lnSpc>
                <a:spcPts val="3066"/>
              </a:lnSpc>
            </a:pPr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1723" lvl="1" indent="-275862" algn="l">
              <a:lnSpc>
                <a:spcPts val="3066"/>
              </a:lnSpc>
              <a:buFont typeface="Arial"/>
              <a:buChar char="•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Zhang, J., et al. (2023), Wearable biosensors for human fatigue diagnosis: A review, Bioengineering &amp; Translational Medicine, 8(1), e10318.</a:t>
            </a:r>
          </a:p>
          <a:p>
            <a:pPr algn="l">
              <a:lnSpc>
                <a:spcPts val="3066"/>
              </a:lnSpc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→ Establishes the use of wearable physiological sensing for continuous, portable and non-invasive fatigue       monitoring, supporting our ECG, PPG and temperature-based approach.</a:t>
            </a:r>
          </a:p>
          <a:p>
            <a:pPr algn="l">
              <a:lnSpc>
                <a:spcPts val="3066"/>
              </a:lnSpc>
            </a:pPr>
            <a:endParaRPr lang="en-US" sz="2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1723" lvl="1" indent="-275862" algn="l">
              <a:lnSpc>
                <a:spcPts val="3066"/>
              </a:lnSpc>
              <a:buFont typeface="Arial"/>
              <a:buChar char="•"/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Schmidt, P., et al. (2018), Introducing WESAD, a Multimodal Dataset for Wearable Stress and Affect Detection, ACM ICMI 2018, pp. 400–408.</a:t>
            </a:r>
          </a:p>
          <a:p>
            <a:pPr algn="l">
              <a:lnSpc>
                <a:spcPts val="3066"/>
              </a:lnSpc>
            </a:pPr>
            <a:r>
              <a:rPr lang="en-US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→ Provides multimodal wearable data including ECG, EDA, BVP and body temperature, demonstrating the feasibility of combining physiological signals for machine-learning-based stress detection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720679" y="287322"/>
            <a:ext cx="2087308" cy="1110901"/>
            <a:chOff x="0" y="0"/>
            <a:chExt cx="2783078" cy="1481201"/>
          </a:xfrm>
        </p:grpSpPr>
        <p:sp>
          <p:nvSpPr>
            <p:cNvPr id="9" name="Freeform 9" descr="A logo with a person in a blue yellow and red circle  Description automatically generated"/>
            <p:cNvSpPr/>
            <p:nvPr/>
          </p:nvSpPr>
          <p:spPr>
            <a:xfrm>
              <a:off x="0" y="0"/>
              <a:ext cx="2783078" cy="1481201"/>
            </a:xfrm>
            <a:custGeom>
              <a:avLst/>
              <a:gdLst/>
              <a:ahLst/>
              <a:cxnLst/>
              <a:rect l="l" t="t" r="r" b="b"/>
              <a:pathLst>
                <a:path w="2783078" h="1481201">
                  <a:moveTo>
                    <a:pt x="0" y="0"/>
                  </a:moveTo>
                  <a:lnTo>
                    <a:pt x="2783078" y="0"/>
                  </a:lnTo>
                  <a:lnTo>
                    <a:pt x="2783078" y="1481201"/>
                  </a:lnTo>
                  <a:lnTo>
                    <a:pt x="0" y="148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2" b="-651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274478" y="256775"/>
            <a:ext cx="2087308" cy="1151287"/>
            <a:chOff x="0" y="0"/>
            <a:chExt cx="2783078" cy="15350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3078" cy="1535049"/>
            </a:xfrm>
            <a:custGeom>
              <a:avLst/>
              <a:gdLst/>
              <a:ahLst/>
              <a:cxnLst/>
              <a:rect l="l" t="t" r="r" b="b"/>
              <a:pathLst>
                <a:path w="2783078" h="1535049">
                  <a:moveTo>
                    <a:pt x="0" y="0"/>
                  </a:moveTo>
                  <a:lnTo>
                    <a:pt x="2783078" y="0"/>
                  </a:lnTo>
                  <a:lnTo>
                    <a:pt x="2783078" y="1535049"/>
                  </a:lnTo>
                  <a:lnTo>
                    <a:pt x="0" y="153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82" b="-28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3450660" y="308420"/>
            <a:ext cx="2214182" cy="1112520"/>
            <a:chOff x="0" y="0"/>
            <a:chExt cx="2952242" cy="1483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52242" cy="1483360"/>
            </a:xfrm>
            <a:custGeom>
              <a:avLst/>
              <a:gdLst/>
              <a:ahLst/>
              <a:cxnLst/>
              <a:rect l="l" t="t" r="r" b="b"/>
              <a:pathLst>
                <a:path w="2952242" h="1483360">
                  <a:moveTo>
                    <a:pt x="0" y="0"/>
                  </a:moveTo>
                  <a:lnTo>
                    <a:pt x="2952242" y="0"/>
                  </a:lnTo>
                  <a:lnTo>
                    <a:pt x="2952242" y="1483360"/>
                  </a:lnTo>
                  <a:lnTo>
                    <a:pt x="0" y="148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9" b="-5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51072" y="308420"/>
            <a:ext cx="2854928" cy="1094423"/>
            <a:chOff x="0" y="0"/>
            <a:chExt cx="3806571" cy="14592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06571" cy="1459230"/>
            </a:xfrm>
            <a:custGeom>
              <a:avLst/>
              <a:gdLst/>
              <a:ahLst/>
              <a:cxnLst/>
              <a:rect l="l" t="t" r="r" b="b"/>
              <a:pathLst>
                <a:path w="3806571" h="1459230">
                  <a:moveTo>
                    <a:pt x="0" y="0"/>
                  </a:moveTo>
                  <a:lnTo>
                    <a:pt x="3806571" y="0"/>
                  </a:lnTo>
                  <a:lnTo>
                    <a:pt x="3806571" y="1459230"/>
                  </a:lnTo>
                  <a:lnTo>
                    <a:pt x="0" y="145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04" b="-30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3682139" y="9733169"/>
            <a:ext cx="4267200" cy="547688"/>
            <a:chOff x="0" y="0"/>
            <a:chExt cx="5689600" cy="7302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682139" y="9718881"/>
            <a:ext cx="4267200" cy="561975"/>
            <a:chOff x="0" y="0"/>
            <a:chExt cx="5689600" cy="749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52380" y="9049998"/>
            <a:ext cx="6857000" cy="599999"/>
            <a:chOff x="0" y="0"/>
            <a:chExt cx="9142666" cy="799998"/>
          </a:xfrm>
        </p:grpSpPr>
        <p:sp>
          <p:nvSpPr>
            <p:cNvPr id="24" name="Freeform 24" descr="Book, quote and search icons representing research and references"/>
            <p:cNvSpPr/>
            <p:nvPr/>
          </p:nvSpPr>
          <p:spPr>
            <a:xfrm>
              <a:off x="0" y="0"/>
              <a:ext cx="9142730" cy="799973"/>
            </a:xfrm>
            <a:custGeom>
              <a:avLst/>
              <a:gdLst/>
              <a:ahLst/>
              <a:cxnLst/>
              <a:rect l="l" t="t" r="r" b="b"/>
              <a:pathLst>
                <a:path w="9142730" h="799973">
                  <a:moveTo>
                    <a:pt x="0" y="0"/>
                  </a:moveTo>
                  <a:lnTo>
                    <a:pt x="9142730" y="0"/>
                  </a:lnTo>
                  <a:lnTo>
                    <a:pt x="9142730" y="799973"/>
                  </a:lnTo>
                  <a:lnTo>
                    <a:pt x="0" y="799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Custom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Arial Bold</vt:lpstr>
      <vt:lpstr>Arimo Bold</vt:lpstr>
      <vt:lpstr>Arial</vt:lpstr>
      <vt:lpstr>Times New Roman Bold</vt:lpstr>
      <vt:lpstr>Garamond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VITISH_26_IdeaTemplate_pptx (with visuals).pptx</dc:title>
  <dc:creator>Shreenithi Ayyanar</dc:creator>
  <cp:lastModifiedBy>Shreenithi Ayyanar</cp:lastModifiedBy>
  <cp:revision>1</cp:revision>
  <dcterms:created xsi:type="dcterms:W3CDTF">2006-08-16T00:00:00Z</dcterms:created>
  <dcterms:modified xsi:type="dcterms:W3CDTF">2026-08-24T04:00:50Z</dcterms:modified>
  <dc:identifier>DAHTAtnc5ug</dc:identifier>
</cp:coreProperties>
</file>